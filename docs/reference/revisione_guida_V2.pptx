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3" r:id="rId2"/>
    <p:sldId id="256" r:id="rId3"/>
    <p:sldId id="265" r:id="rId4"/>
    <p:sldId id="277" r:id="rId5"/>
    <p:sldId id="275" r:id="rId6"/>
    <p:sldId id="257" r:id="rId7"/>
    <p:sldId id="259" r:id="rId8"/>
    <p:sldId id="268" r:id="rId9"/>
    <p:sldId id="278" r:id="rId10"/>
    <p:sldId id="260" r:id="rId11"/>
    <p:sldId id="269" r:id="rId12"/>
    <p:sldId id="261" r:id="rId13"/>
    <p:sldId id="270" r:id="rId14"/>
    <p:sldId id="262" r:id="rId15"/>
    <p:sldId id="271" r:id="rId16"/>
    <p:sldId id="263" r:id="rId17"/>
    <p:sldId id="264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8" autoAdjust="0"/>
    <p:restoredTop sz="94660"/>
  </p:normalViewPr>
  <p:slideViewPr>
    <p:cSldViewPr snapToGrid="0">
      <p:cViewPr varScale="1">
        <p:scale>
          <a:sx n="79" d="100"/>
          <a:sy n="79" d="100"/>
        </p:scale>
        <p:origin x="76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AF215-A1B6-4005-9343-14714ACD69E9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3501A-9453-4018-9D4F-4BA39779E54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97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7E8D7-E3B3-0C4A-EC1C-E2BFB45C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A00EE2C-C3AA-2CFB-1D84-0A4A01122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FAC6DD2-7DA6-569C-4F48-81C482B2E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E347BF9-1680-342A-E3E5-2F1B3226C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3501A-9453-4018-9D4F-4BA39779E54E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5708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3501A-9453-4018-9D4F-4BA39779E54E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756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093DE4-E47A-F545-17B0-6EB98F680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4317F82-C9BE-CDB7-F991-8FAD656C4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F3FA49-3DA9-8B00-2FA5-937E4B718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95E2B3-6801-E6A5-51EA-BCAE4B4B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F06DA1-34BB-9313-B165-D73B709B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654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232229-ABEE-10C9-6781-4BF812F3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D4BBE1-D581-18D5-13DD-30D1BBA2D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BDCDDC-B3F1-E5A4-D4E3-8870C1F3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1CE131-BCFE-16D0-E13D-8C0391E7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92C5A4-E830-371A-461B-1C067705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893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46AF58-EE46-0B2C-BA6F-83248A364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055379-C324-B545-8565-82349828E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8D5E42-22BE-A426-44F2-29297979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86C79E-9A93-17E5-5954-6C393797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214C00-5E79-A450-F647-75A84591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488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CB7407-3F7F-20FE-5C07-3EE6C68E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202256-5AE2-C221-3123-821245743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7E019C-B4CE-C9E1-226C-1FEE7718C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7D7FD60-62BC-072A-2C99-59995AB4A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C8061E9-F31B-57CB-7369-ABBF5F680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638462-A3B3-BC20-883E-0916726E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3981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269AC4-0297-B916-E635-ED4EEE9DF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EFC212-5481-E554-DFC8-D4C2D19AD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E2F7065-D5CB-0E3E-773F-C41C318A9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E70503D-2F14-311A-E5CC-4E2CCA3C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D88C766-17A8-41A6-613D-F0F2F71CB9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2C98F34-A21D-EFBB-5E24-7743831F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12A8DD5-E8E9-8A2D-B40A-52F75F4D5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1845879-12A5-755C-EFD6-2F257BCF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10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ED2B0C-C7F4-6B71-2E02-B2560A45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38BBE8D-1EC6-C4A3-8FDC-4FC0DA23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CF36CD6-640C-42D9-A85D-A794DC9E1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E750219-0729-6F7F-D95C-07219903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523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3543AEB-8939-15C6-883D-98415F8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EBEB677-14A7-5973-02D3-754952946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821A7C-BF7E-A26F-22E8-881597FF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8673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6C6CB1-8F7D-A1AB-EDEC-CF075957D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5D318A-C757-8847-B731-0091319EC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6C5A2F-4837-6669-EA3C-8134FD90A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DB669FD-DA02-C217-1F2E-894A53401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0FFE988-B34E-1B2A-13DB-681B4FC8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117101C-EE89-FA98-16D5-464C5661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206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83FC7A-A239-F858-68FF-36ECCFBA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7383AC0-76C6-E150-BDB3-3B28186AA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E52B719-10F4-3DC5-50AA-6F0DFC4FD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D7D6076-2CDE-E02D-82EA-36870EE2C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616C090-6DFD-B1A6-C944-B1B44DAA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985028D-ACAC-DF98-EC18-6FFC34A6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691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9714B4-E081-7424-8A83-472FE0B2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24E8CF7-D415-367A-8041-676D7514E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96C681-9D10-D830-6F17-F4E5D830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20CB04-A857-4074-590E-B116D612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93F1AC-C2EB-91C6-DC4F-5788C76B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772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FA7E790-3649-DE16-8BEC-D67D57923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7D49B74-FAEE-BD48-CF65-36C251FDC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971AB1-F62B-5F46-6AC2-1B01546E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BA6E18-1EF0-B6D9-39F2-806E7780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DCD967-5E76-0742-A6A5-B552F190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548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D0660D3-3247-8EF8-E14A-F3B04B2E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6E6197-861E-E059-3F63-4DF20D4D6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117B43-93A5-01A3-6EC3-A35DE3D50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FE68C-BFBD-4385-896D-5D47C701F18E}" type="datetimeFigureOut">
              <a:rPr lang="it-IT" smtClean="0"/>
              <a:t>20/10/2026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20CD17-D384-D1D5-8250-95F3698E2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9AF8AC-3298-D680-3341-677205986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9E0C4-0D82-40D0-9E2C-84AB5E3109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4929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693B3A-7C7E-36AC-319D-BEF2E8BBB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36F391C-E7EC-2AD4-D6E7-25E053518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46" y="875440"/>
            <a:ext cx="11550508" cy="510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289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1C84725-6740-434F-B10A-F970E31E7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9" y="0"/>
            <a:ext cx="3165231" cy="6858000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BF2FA6D-CE83-6D99-BCA5-4DD65D2D3699}"/>
              </a:ext>
            </a:extLst>
          </p:cNvPr>
          <p:cNvSpPr txBox="1"/>
          <p:nvPr/>
        </p:nvSpPr>
        <p:spPr>
          <a:xfrm>
            <a:off x="4030910" y="3015842"/>
            <a:ext cx="549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Organizzare la pagina Configura secondo lo stile di Utility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6FF4FBA-5DAA-B430-C319-D1910773A8A3}"/>
              </a:ext>
            </a:extLst>
          </p:cNvPr>
          <p:cNvSpPr txBox="1"/>
          <p:nvPr/>
        </p:nvSpPr>
        <p:spPr>
          <a:xfrm>
            <a:off x="10924416" y="14517"/>
            <a:ext cx="1259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FARE</a:t>
            </a:r>
          </a:p>
        </p:txBody>
      </p:sp>
    </p:spTree>
    <p:extLst>
      <p:ext uri="{BB962C8B-B14F-4D97-AF65-F5344CB8AC3E}">
        <p14:creationId xmlns:p14="http://schemas.microsoft.com/office/powerpoint/2010/main" val="24258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DEC12D5-F1AA-50C7-92A4-67FEA8BDA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8" y="46140"/>
            <a:ext cx="4286250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5947DE-D4BF-3ED4-3775-59F6644EDD24}"/>
              </a:ext>
            </a:extLst>
          </p:cNvPr>
          <p:cNvSpPr txBox="1">
            <a:spLocks/>
          </p:cNvSpPr>
          <p:nvPr/>
        </p:nvSpPr>
        <p:spPr>
          <a:xfrm>
            <a:off x="4435854" y="0"/>
            <a:ext cx="7675268" cy="24929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VALIDO PER TUTTE LE PAGINE</a:t>
            </a:r>
          </a:p>
          <a:p>
            <a:endParaRPr lang="it-IT" sz="1200" dirty="0"/>
          </a:p>
          <a:p>
            <a:r>
              <a:rPr lang="it-IT" sz="1200" dirty="0"/>
              <a:t>Ogni videata del setup catalogo personale deve essere strutturata cosi:</a:t>
            </a:r>
          </a:p>
          <a:p>
            <a:r>
              <a:rPr lang="it-IT" sz="1200" dirty="0"/>
              <a:t>TITOLO: Setup Catalogo personale (FISSO COME ORA)</a:t>
            </a:r>
          </a:p>
          <a:p>
            <a:r>
              <a:rPr lang="it-IT" sz="1200" dirty="0"/>
              <a:t>SOTTOTITOLO: N. passo + titolo della pagina/passo</a:t>
            </a:r>
          </a:p>
          <a:p>
            <a:r>
              <a:rPr lang="it-IT" sz="1200" dirty="0"/>
              <a:t>INTRODUZIONE: Breve descrizione della pagina (in alcune slide è identificata da un’icona «stella»)</a:t>
            </a:r>
          </a:p>
          <a:p>
            <a:r>
              <a:rPr lang="it-IT" sz="1200" dirty="0"/>
              <a:t>DOMANDA (Eventuale) + combo con risposte chiuse</a:t>
            </a:r>
          </a:p>
          <a:p>
            <a:r>
              <a:rPr lang="it-IT" sz="1200" dirty="0"/>
              <a:t>CHECKLIST (Eventuale): le istruzioni operative devono essere visualizzate come checklist e ciascun riquadro deve essere selezionato dall’utente a conferma di aver eseguito correttamente la specifica operazione. Solo se i riquadri sono stati tutti selezionati si passa allo step successivo cliccando su OK.</a:t>
            </a:r>
          </a:p>
          <a:p>
            <a:r>
              <a:rPr lang="it-IT" sz="1200" dirty="0"/>
              <a:t>HELP (Eventuale): a seconda del tipo di intervento richiesto all’utente, prevedere un help contestuale con il quale sono gestiti i problemi evidenziati nei template proposti (funzione da sviluppare)</a:t>
            </a:r>
          </a:p>
          <a:p>
            <a:endParaRPr lang="it-IT" sz="120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54619A2-7373-5DFE-454E-237D146AE4CA}"/>
              </a:ext>
            </a:extLst>
          </p:cNvPr>
          <p:cNvSpPr/>
          <p:nvPr/>
        </p:nvSpPr>
        <p:spPr>
          <a:xfrm>
            <a:off x="2148840" y="1196340"/>
            <a:ext cx="2179320" cy="72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9CD0598-1749-3699-909F-47A75585830F}"/>
              </a:ext>
            </a:extLst>
          </p:cNvPr>
          <p:cNvSpPr txBox="1"/>
          <p:nvPr/>
        </p:nvSpPr>
        <p:spPr>
          <a:xfrm>
            <a:off x="5225488" y="38897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LE MODIFICHE DI QUESTA PAGINA SONO RIPORTATE A SINISTRA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496CF78-4F1F-1863-7019-BF30AE2ECF5E}"/>
              </a:ext>
            </a:extLst>
          </p:cNvPr>
          <p:cNvSpPr txBox="1"/>
          <p:nvPr/>
        </p:nvSpPr>
        <p:spPr>
          <a:xfrm>
            <a:off x="8578862" y="46140"/>
            <a:ext cx="3600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MODIFICHE NON RECEPITE</a:t>
            </a:r>
          </a:p>
        </p:txBody>
      </p:sp>
    </p:spTree>
    <p:extLst>
      <p:ext uri="{BB962C8B-B14F-4D97-AF65-F5344CB8AC3E}">
        <p14:creationId xmlns:p14="http://schemas.microsoft.com/office/powerpoint/2010/main" val="2394787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7B6EA-EBD0-ECF1-1AB0-69DD9845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3FDB9E4-471B-21ED-3853-B5285FAEC755}"/>
              </a:ext>
            </a:extLst>
          </p:cNvPr>
          <p:cNvSpPr txBox="1">
            <a:spLocks/>
          </p:cNvSpPr>
          <p:nvPr/>
        </p:nvSpPr>
        <p:spPr>
          <a:xfrm>
            <a:off x="4440396" y="55895"/>
            <a:ext cx="5192252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REVISIONE PASSO 0 </a:t>
            </a:r>
            <a:r>
              <a:rPr lang="it-IT" sz="1200" dirty="0"/>
              <a:t>(procedura per PC/Notebook)</a:t>
            </a:r>
            <a:endParaRPr lang="it-IT" sz="1200" b="1" dirty="0"/>
          </a:p>
          <a:p>
            <a:r>
              <a:rPr lang="it-IT" sz="1000" dirty="0"/>
              <a:t>La pagina è rivista secondo il template 0</a:t>
            </a:r>
          </a:p>
          <a:p>
            <a:r>
              <a:rPr lang="it-IT" sz="1000" dirty="0"/>
              <a:t>Il riquadro della lettera / dispositivo può cambiare in base al dispositivo selezionato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FB3195E-8546-53C5-CD5B-226F83AB97A7}"/>
              </a:ext>
            </a:extLst>
          </p:cNvPr>
          <p:cNvSpPr txBox="1">
            <a:spLocks/>
          </p:cNvSpPr>
          <p:nvPr/>
        </p:nvSpPr>
        <p:spPr>
          <a:xfrm>
            <a:off x="4485120" y="802381"/>
            <a:ext cx="3221760" cy="37548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Dove tenere il Catalogo (solo sottotitolo senza numero)</a:t>
            </a:r>
          </a:p>
          <a:p>
            <a:endParaRPr lang="it-IT" sz="1200" dirty="0"/>
          </a:p>
          <a:p>
            <a:r>
              <a:rPr lang="it-IT" sz="1200" dirty="0"/>
              <a:t>Inizia a scegliere in quale dispositivo e cartella vuoi tenere il Catalogo Personale:</a:t>
            </a:r>
          </a:p>
          <a:p>
            <a:r>
              <a:rPr lang="it-IT" sz="1200" b="1" dirty="0"/>
              <a:t>Seleziona il dispositivo</a:t>
            </a:r>
            <a:endParaRPr lang="it-IT" sz="1200" dirty="0"/>
          </a:p>
          <a:p>
            <a:endParaRPr lang="it-IT" sz="1200" dirty="0"/>
          </a:p>
          <a:p>
            <a:endParaRPr lang="it-IT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it-IT" sz="1200" dirty="0"/>
              <a:t>Su questo dispositivo (default)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it-IT" sz="1200" dirty="0"/>
              <a:t>Su un PC/Notebook Windows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it-IT" sz="1200" dirty="0"/>
              <a:t>Su Cloud (Google Drive)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it-IT" sz="1200" dirty="0"/>
              <a:t>Su disco di rete o NAS</a:t>
            </a:r>
          </a:p>
          <a:p>
            <a:endParaRPr lang="it-IT" sz="1200" dirty="0"/>
          </a:p>
          <a:p>
            <a:r>
              <a:rPr lang="it-IT" sz="1200" b="1" dirty="0"/>
              <a:t>Indica lettera dispositivo e percorso cartella</a:t>
            </a:r>
          </a:p>
          <a:p>
            <a:endParaRPr lang="it-IT" sz="1200" dirty="0"/>
          </a:p>
          <a:p>
            <a:endParaRPr lang="it-IT" sz="1200" dirty="0"/>
          </a:p>
          <a:p>
            <a:r>
              <a:rPr lang="it-IT" sz="1200" dirty="0"/>
              <a:t>Valori modificabili</a:t>
            </a:r>
          </a:p>
          <a:p>
            <a:endParaRPr lang="it-IT" sz="1200" dirty="0"/>
          </a:p>
          <a:p>
            <a:r>
              <a:rPr lang="it-IT" sz="1200" dirty="0"/>
              <a:t>Quando pronto clicca su OK</a:t>
            </a:r>
          </a:p>
          <a:p>
            <a:endParaRPr lang="it-IT" sz="1200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D7BD89F-9912-CF87-1378-B018A9729014}"/>
              </a:ext>
            </a:extLst>
          </p:cNvPr>
          <p:cNvSpPr/>
          <p:nvPr/>
        </p:nvSpPr>
        <p:spPr>
          <a:xfrm>
            <a:off x="6842570" y="4300294"/>
            <a:ext cx="478601" cy="233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42143C0-F91D-BC73-80C7-7638B8C133B0}"/>
              </a:ext>
            </a:extLst>
          </p:cNvPr>
          <p:cNvSpPr txBox="1">
            <a:spLocks/>
          </p:cNvSpPr>
          <p:nvPr/>
        </p:nvSpPr>
        <p:spPr>
          <a:xfrm>
            <a:off x="4485120" y="4806660"/>
            <a:ext cx="322176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0 - </a:t>
            </a:r>
            <a:r>
              <a:rPr lang="it-IT" sz="800" b="1" i="1" dirty="0"/>
              <a:t>Note</a:t>
            </a:r>
          </a:p>
          <a:p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Fare un controllo della sintassi per lettera disco e percorso cartella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9DB0748-F884-8870-3914-5B741119749E}"/>
              </a:ext>
            </a:extLst>
          </p:cNvPr>
          <p:cNvSpPr/>
          <p:nvPr/>
        </p:nvSpPr>
        <p:spPr>
          <a:xfrm>
            <a:off x="4566060" y="1922066"/>
            <a:ext cx="2691114" cy="315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riangolo isoscele 8">
            <a:extLst>
              <a:ext uri="{FF2B5EF4-FFF2-40B4-BE49-F238E27FC236}">
                <a16:creationId xmlns:a16="http://schemas.microsoft.com/office/drawing/2014/main" id="{681CCB8B-16B4-C6DD-35E1-570CAAA4C40C}"/>
              </a:ext>
            </a:extLst>
          </p:cNvPr>
          <p:cNvSpPr/>
          <p:nvPr/>
        </p:nvSpPr>
        <p:spPr>
          <a:xfrm rot="10800000">
            <a:off x="7081870" y="2020039"/>
            <a:ext cx="175304" cy="14882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742F745-B47A-9C1C-0290-31E3D8A22DEB}"/>
              </a:ext>
            </a:extLst>
          </p:cNvPr>
          <p:cNvSpPr/>
          <p:nvPr/>
        </p:nvSpPr>
        <p:spPr>
          <a:xfrm>
            <a:off x="4566060" y="3435464"/>
            <a:ext cx="2691114" cy="315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D78F9565-C2C8-AC9C-561D-97141EB77DD3}"/>
              </a:ext>
            </a:extLst>
          </p:cNvPr>
          <p:cNvSpPr/>
          <p:nvPr/>
        </p:nvSpPr>
        <p:spPr>
          <a:xfrm>
            <a:off x="4566060" y="3424326"/>
            <a:ext cx="354915" cy="315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25C1366-6361-250D-94CE-C22217F0E451}"/>
              </a:ext>
            </a:extLst>
          </p:cNvPr>
          <p:cNvSpPr txBox="1"/>
          <p:nvPr/>
        </p:nvSpPr>
        <p:spPr>
          <a:xfrm>
            <a:off x="4654296" y="3443644"/>
            <a:ext cx="1996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C:  \MediaManager\Catalogo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BF5BA674-3598-15E3-0974-D30F92CA98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207"/>
          <a:stretch>
            <a:fillRect/>
          </a:stretch>
        </p:blipFill>
        <p:spPr>
          <a:xfrm>
            <a:off x="0" y="0"/>
            <a:ext cx="4363962" cy="6858000"/>
          </a:xfrm>
          <a:prstGeom prst="rect">
            <a:avLst/>
          </a:prstGeom>
        </p:spPr>
      </p:pic>
      <p:sp>
        <p:nvSpPr>
          <p:cNvPr id="18" name="Rettangolo 17">
            <a:extLst>
              <a:ext uri="{FF2B5EF4-FFF2-40B4-BE49-F238E27FC236}">
                <a16:creationId xmlns:a16="http://schemas.microsoft.com/office/drawing/2014/main" id="{E8949054-0FC7-5986-0BAA-7F5E87714409}"/>
              </a:ext>
            </a:extLst>
          </p:cNvPr>
          <p:cNvSpPr/>
          <p:nvPr/>
        </p:nvSpPr>
        <p:spPr>
          <a:xfrm>
            <a:off x="295721" y="2237702"/>
            <a:ext cx="1934140" cy="35405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BEB1362-F355-91F9-0300-FEA99AB0E907}"/>
              </a:ext>
            </a:extLst>
          </p:cNvPr>
          <p:cNvSpPr txBox="1"/>
          <p:nvPr/>
        </p:nvSpPr>
        <p:spPr>
          <a:xfrm>
            <a:off x="9844883" y="0"/>
            <a:ext cx="2374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AGGIORNARE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9508985-2240-DDE9-7F71-270102D59761}"/>
              </a:ext>
            </a:extLst>
          </p:cNvPr>
          <p:cNvSpPr txBox="1"/>
          <p:nvPr/>
        </p:nvSpPr>
        <p:spPr>
          <a:xfrm>
            <a:off x="7920661" y="3630964"/>
            <a:ext cx="39962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1" i="1" dirty="0">
                <a:solidFill>
                  <a:srgbClr val="FF0000"/>
                </a:solidFill>
              </a:rPr>
              <a:t>V2</a:t>
            </a:r>
          </a:p>
          <a:p>
            <a:pPr marL="228600" indent="-228600">
              <a:buAutoNum type="arabicPeriod"/>
            </a:pPr>
            <a:r>
              <a:rPr lang="it-IT" sz="1200" b="1" i="1" dirty="0">
                <a:solidFill>
                  <a:srgbClr val="FF0000"/>
                </a:solidFill>
              </a:rPr>
              <a:t>IL COMBO DEL PERCORSO DEVE ESSERE UNICO: L’EVENTUALE LETTERA DEL DISCO/MEMORIA DEVE COMPARIRE NELLO STESSO RIQUADRO DEL DISPOSITIVO / CARTELLA SECONDO LA SEGUENTE CASISTICA: QUESTO DISPOSITIVO (MEMORIA PRINCIPALE/SECONDARIA); PC/NOTEBOOK (LETTERA SEGUITA DA «</a:t>
            </a:r>
            <a:r>
              <a:rPr lang="it-IT" sz="1200" b="1" i="1" dirty="0">
                <a:solidFill>
                  <a:srgbClr val="FF0000"/>
                </a:solidFill>
                <a:sym typeface="Wingdings" panose="05000000000000000000" pitchFamily="2" charset="2"/>
              </a:rPr>
              <a:t>:»; CLOUD: SIGLA CHE IDENTIFICHI IL NOME DEL CLOUD; DISCO RETE/NAS: </a:t>
            </a:r>
            <a:r>
              <a:rPr lang="it-IT" sz="1200" b="1" i="1" dirty="0">
                <a:solidFill>
                  <a:srgbClr val="FF0000"/>
                </a:solidFill>
              </a:rPr>
              <a:t>LETTERA SEGUITA DA «</a:t>
            </a:r>
            <a:r>
              <a:rPr lang="it-IT" sz="1200" b="1" i="1" dirty="0">
                <a:solidFill>
                  <a:srgbClr val="FF0000"/>
                </a:solidFill>
                <a:sym typeface="Wingdings" panose="05000000000000000000" pitchFamily="2" charset="2"/>
              </a:rPr>
              <a:t>:»</a:t>
            </a:r>
          </a:p>
          <a:p>
            <a:pPr marL="228600" indent="-228600">
              <a:buAutoNum type="arabicPeriod"/>
            </a:pPr>
            <a:r>
              <a:rPr lang="it-IT" sz="1200" b="1" i="1" dirty="0">
                <a:solidFill>
                  <a:srgbClr val="FF0000"/>
                </a:solidFill>
                <a:sym typeface="Wingdings" panose="05000000000000000000" pitchFamily="2" charset="2"/>
              </a:rPr>
              <a:t>COME RICHIESTO, Fare un controllo della sintassi per lettera disco e percorso cartella (ESEMPIO: USO IMPRORIO DEI CARATTERI COME «/» INVECE DI «\», MANCANZA DEI DUE PUNTI DOPO LA LETTERA DEL DISCO</a:t>
            </a:r>
            <a:endParaRPr lang="it-IT" sz="1200" b="1" i="1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it-IT" sz="1200" b="1" i="1" dirty="0">
                <a:solidFill>
                  <a:srgbClr val="FF0000"/>
                </a:solidFill>
              </a:rPr>
              <a:t>ELIMINARE GLI ALTRI TESTI CHE NON SIANO ESPLICITAMENTE INDICATI NEL TEMPLATE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A5C25DF-E6DB-CA87-8951-2987FA5315C4}"/>
              </a:ext>
            </a:extLst>
          </p:cNvPr>
          <p:cNvSpPr txBox="1"/>
          <p:nvPr/>
        </p:nvSpPr>
        <p:spPr>
          <a:xfrm>
            <a:off x="8121444" y="1641975"/>
            <a:ext cx="304904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 dirty="0"/>
              <a:t>Se è stato selezionato «Su un PC/Notebook Windows»</a:t>
            </a:r>
            <a:r>
              <a:rPr lang="it-IT" sz="800" dirty="0"/>
              <a:t>:</a:t>
            </a:r>
          </a:p>
          <a:p>
            <a:r>
              <a:rPr lang="it-IT" sz="800" dirty="0"/>
              <a:t>A. </a:t>
            </a:r>
            <a:r>
              <a:rPr lang="it-IT" sz="1000" dirty="0"/>
              <a:t>Da inserire dopo il riquadro di «Seleziona il dispositivo»</a:t>
            </a:r>
          </a:p>
          <a:p>
            <a:r>
              <a:rPr lang="it-IT" sz="800" b="1" dirty="0">
                <a:solidFill>
                  <a:srgbClr val="FF0000"/>
                </a:solidFill>
              </a:rPr>
              <a:t>Se hai scelto un PC o Notebook Windows, la procedura prevede:</a:t>
            </a:r>
          </a:p>
          <a:p>
            <a:r>
              <a:rPr lang="it-IT" sz="800" b="1" dirty="0">
                <a:solidFill>
                  <a:srgbClr val="FF0000"/>
                </a:solidFill>
              </a:rPr>
              <a:t>1 – Verifica della disponibilità di quanto necessario</a:t>
            </a:r>
          </a:p>
          <a:p>
            <a:r>
              <a:rPr lang="it-IT" sz="800" b="1" dirty="0">
                <a:solidFill>
                  <a:srgbClr val="FF0000"/>
                </a:solidFill>
              </a:rPr>
              <a:t>2 – Verifica preliminare, preparazione dei file e collegamento</a:t>
            </a:r>
          </a:p>
          <a:p>
            <a:r>
              <a:rPr lang="it-IT" sz="800" b="1" dirty="0">
                <a:solidFill>
                  <a:srgbClr val="FF0000"/>
                </a:solidFill>
              </a:rPr>
              <a:t>3 – Copia manuale dei file di configurazione</a:t>
            </a:r>
          </a:p>
          <a:p>
            <a:r>
              <a:rPr lang="it-IT" sz="800" b="1" dirty="0">
                <a:solidFill>
                  <a:srgbClr val="FF0000"/>
                </a:solidFill>
              </a:rPr>
              <a:t>4 – Generazione password e altri dati necessari per configurare la cartella condivida</a:t>
            </a:r>
          </a:p>
          <a:p>
            <a:r>
              <a:rPr lang="it-IT" sz="800" b="1" dirty="0">
                <a:solidFill>
                  <a:srgbClr val="FF0000"/>
                </a:solidFill>
              </a:rPr>
              <a:t>5 – Accedere alla cartella del Catalogo mediante CIFS</a:t>
            </a:r>
          </a:p>
          <a:p>
            <a:endParaRPr lang="it-IT" sz="800" dirty="0"/>
          </a:p>
          <a:p>
            <a:r>
              <a:rPr lang="it-IT" sz="800" dirty="0"/>
              <a:t> B. Il riquadro del percorso sarà valorizzato con i valori di default (C: \</a:t>
            </a:r>
            <a:r>
              <a:rPr lang="it-IT" sz="800" dirty="0" err="1"/>
              <a:t>MediaManager</a:t>
            </a:r>
            <a:r>
              <a:rPr lang="it-IT" sz="800" dirty="0"/>
              <a:t>\Catalogo) e sotto comparirà il messaggio «Valori modificabili»</a:t>
            </a:r>
          </a:p>
          <a:p>
            <a:endParaRPr lang="it-IT" sz="8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50644C1-D913-5E14-D716-021F4132BD54}"/>
              </a:ext>
            </a:extLst>
          </p:cNvPr>
          <p:cNvSpPr txBox="1"/>
          <p:nvPr/>
        </p:nvSpPr>
        <p:spPr>
          <a:xfrm>
            <a:off x="8068223" y="661082"/>
            <a:ext cx="361926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DESCRIZIONE DA INSERIRE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6FC031E-4EDC-2798-F122-9B3DF5FEE14C}"/>
              </a:ext>
            </a:extLst>
          </p:cNvPr>
          <p:cNvSpPr txBox="1"/>
          <p:nvPr/>
        </p:nvSpPr>
        <p:spPr>
          <a:xfrm>
            <a:off x="8085410" y="1045322"/>
            <a:ext cx="304904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it-IT" sz="900" b="1" dirty="0">
                <a:solidFill>
                  <a:srgbClr val="FF0000"/>
                </a:solidFill>
              </a:rPr>
              <a:t>Da questa pagina si attiva la procedura guidata per la creazione o modifica della cartella condivisa dove tenere il Catalogo.  Per motivi di sicurezza ci sono delle operazioni che puoi fare solo tu.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63F3FDD2-9742-151C-8BEC-ADF598850E0E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7474533" y="1266072"/>
            <a:ext cx="610877" cy="1024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5130A873-54CF-B4B9-3D9E-16B0462914EC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7254402" y="2231272"/>
            <a:ext cx="867042" cy="5033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724BBFAA-8C38-6B36-BF8F-4B5DF333AC27}"/>
              </a:ext>
            </a:extLst>
          </p:cNvPr>
          <p:cNvCxnSpPr>
            <a:cxnSpLocks/>
          </p:cNvCxnSpPr>
          <p:nvPr/>
        </p:nvCxnSpPr>
        <p:spPr>
          <a:xfrm flipH="1">
            <a:off x="7321171" y="3357477"/>
            <a:ext cx="852619" cy="2199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20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61FB802D-4469-9624-8E1B-F0F9E7CDF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8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EC6088-DF31-9D52-BED5-DB82EBFD6EEE}"/>
              </a:ext>
            </a:extLst>
          </p:cNvPr>
          <p:cNvSpPr txBox="1">
            <a:spLocks/>
          </p:cNvSpPr>
          <p:nvPr/>
        </p:nvSpPr>
        <p:spPr>
          <a:xfrm>
            <a:off x="4435854" y="0"/>
            <a:ext cx="7675268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PAGINA INTRODUTTIVA DA VISUALIZZARE SE E’ PREVISTA UNA SPECIFICA PROCEDURA DI CONFIGURAZIONE</a:t>
            </a:r>
          </a:p>
          <a:p>
            <a:endParaRPr lang="it-IT" sz="1200" dirty="0"/>
          </a:p>
          <a:p>
            <a:r>
              <a:rPr lang="it-IT" sz="1200" dirty="0"/>
              <a:t>Questa pagina deve essere presentata dopo la selezione del tipo di dispositivo da usare per il Catalogo.</a:t>
            </a:r>
          </a:p>
          <a:p>
            <a:r>
              <a:rPr lang="it-IT" sz="1200" dirty="0"/>
              <a:t>E’ strutturata in due parti, una fissa e l’altra variabile in base alla procedura da attivare.</a:t>
            </a:r>
          </a:p>
          <a:p>
            <a:endParaRPr lang="it-IT" sz="1200" dirty="0"/>
          </a:p>
          <a:p>
            <a:r>
              <a:rPr lang="it-IT" sz="1200" dirty="0"/>
              <a:t>Quella mostrata qui si riferisce alla procedura per PC/Notebook</a:t>
            </a:r>
          </a:p>
          <a:p>
            <a:endParaRPr lang="it-IT" sz="1200" dirty="0"/>
          </a:p>
          <a:p>
            <a:r>
              <a:rPr lang="it-IT" sz="1200" dirty="0"/>
              <a:t>Per gli altri dispositivi che richiedono particolari istruzioni operative la parte variabile deve essere definita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7B9E965-6CEB-60B5-6011-025CF91435DA}"/>
              </a:ext>
            </a:extLst>
          </p:cNvPr>
          <p:cNvSpPr txBox="1">
            <a:spLocks/>
          </p:cNvSpPr>
          <p:nvPr/>
        </p:nvSpPr>
        <p:spPr>
          <a:xfrm>
            <a:off x="4440396" y="1662140"/>
            <a:ext cx="7675268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REVISIONE PASSI 2-7 </a:t>
            </a:r>
            <a:r>
              <a:rPr lang="it-IT" sz="1200" dirty="0"/>
              <a:t>(procedura per PC/Notebook)</a:t>
            </a:r>
            <a:endParaRPr lang="it-IT" sz="1200" b="1" dirty="0"/>
          </a:p>
          <a:p>
            <a:endParaRPr lang="it-IT" sz="1200" dirty="0"/>
          </a:p>
          <a:p>
            <a:r>
              <a:rPr lang="it-IT" sz="1200" dirty="0"/>
              <a:t>La sequenza dei passi (ridotti in questa proposta) deve essere rivista in base alla UEX definita. Ogni pagina deve seguire l’ordine dei 5 punti evidenziati nella descrizione in alto a sinistra. La prima pagina (da aggiungere) sarà quella del «1 – Verifica della disponibilità di quanto necessario» come da template 1. La seconda pagina sarà quella del «2 - Verifica preliminare, preparazione dei file e collegamento» come da template 2.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E9DDA5F-91DF-61C4-8E10-513F3E740089}"/>
              </a:ext>
            </a:extLst>
          </p:cNvPr>
          <p:cNvSpPr txBox="1">
            <a:spLocks/>
          </p:cNvSpPr>
          <p:nvPr/>
        </p:nvSpPr>
        <p:spPr>
          <a:xfrm>
            <a:off x="4435854" y="3174302"/>
            <a:ext cx="3221760" cy="26468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1 – Verifica della disponibilità di quanto necessario</a:t>
            </a:r>
          </a:p>
          <a:p>
            <a:endParaRPr lang="it-IT" sz="1200" dirty="0"/>
          </a:p>
          <a:p>
            <a:r>
              <a:rPr lang="it-IT" sz="1200" dirty="0"/>
              <a:t>Prima di avviare la procedura verifica e conferma di avere a disposizione i seguenti strumenti:</a:t>
            </a:r>
          </a:p>
          <a:p>
            <a:endParaRPr lang="it-IT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Telefono Android o tablet dove è stata installata l’app </a:t>
            </a:r>
            <a:r>
              <a:rPr lang="it-IT" sz="1200" dirty="0" err="1"/>
              <a:t>MediaManager</a:t>
            </a:r>
            <a:endParaRPr lang="it-IT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PC/Notebook Windows v. 10 o superiore (*)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Cavo USB adatto al trasferimento dei dati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it-IT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endParaRPr lang="it-IT" sz="1200" dirty="0"/>
          </a:p>
          <a:p>
            <a:r>
              <a:rPr lang="it-IT" sz="1200" dirty="0"/>
              <a:t>Quando pronto clicca su OK</a:t>
            </a:r>
          </a:p>
          <a:p>
            <a:endParaRPr lang="it-IT" sz="1200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9C909741-DE6D-9AFD-1193-1F95EFD1C37A}"/>
              </a:ext>
            </a:extLst>
          </p:cNvPr>
          <p:cNvSpPr/>
          <p:nvPr/>
        </p:nvSpPr>
        <p:spPr>
          <a:xfrm>
            <a:off x="7050608" y="5342517"/>
            <a:ext cx="478601" cy="233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5A6B4DE-6145-76BF-8400-1BB2462CDB17}"/>
              </a:ext>
            </a:extLst>
          </p:cNvPr>
          <p:cNvSpPr txBox="1">
            <a:spLocks/>
          </p:cNvSpPr>
          <p:nvPr/>
        </p:nvSpPr>
        <p:spPr>
          <a:xfrm>
            <a:off x="4435854" y="5869184"/>
            <a:ext cx="3221760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1 - </a:t>
            </a:r>
            <a:r>
              <a:rPr lang="it-IT" sz="800" b="1" i="1" dirty="0"/>
              <a:t>Note</a:t>
            </a:r>
          </a:p>
          <a:p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Verificare quale sia la versione minima per gestire lo script</a:t>
            </a:r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bottone ok sarà accessibile solo se tutti i riquadri della checklist sono stati selezionati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82F3318-772F-FAAD-9C88-7EACF445606F}"/>
              </a:ext>
            </a:extLst>
          </p:cNvPr>
          <p:cNvSpPr txBox="1">
            <a:spLocks/>
          </p:cNvSpPr>
          <p:nvPr/>
        </p:nvSpPr>
        <p:spPr>
          <a:xfrm>
            <a:off x="7763362" y="3174302"/>
            <a:ext cx="3221760" cy="2985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2 - Verifica preliminare, preparazione dei file e collegamento</a:t>
            </a:r>
          </a:p>
          <a:p>
            <a:endParaRPr lang="it-IT" sz="1200" dirty="0"/>
          </a:p>
          <a:p>
            <a:r>
              <a:rPr lang="it-IT" sz="1200" dirty="0"/>
              <a:t>Esegui ora le seguenti verifiche preliminari:</a:t>
            </a:r>
          </a:p>
          <a:p>
            <a:endParaRPr lang="it-IT" sz="800" dirty="0"/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dirty="0"/>
              <a:t>Collega il telefono al PC/Notebook con un cavetto USB adatto al trasferimento dei dati (meglio se quello fornito in dotazione)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dirty="0"/>
              <a:t>Verifica che il PC e il telefono siano accesi e sbloccati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dirty="0"/>
              <a:t>Modifica sul telefono la modalità di collegamento USB da “Solo Ricarica” a “Trasferimento Dati” usando l’opzione di notifica «USB per ricarica smartphone»: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800" i="1" dirty="0"/>
              <a:t>Il cavetto USB è configurato per essere usato per ricaricare. Nel nostro caso però lo dobbiamo configurare per il trasferimento dei dati. Ecco come fare:</a:t>
            </a:r>
            <a:endParaRPr lang="it-IT" sz="8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sz="800" i="1" dirty="0"/>
              <a:t>Apri le notifiche scorrendo verso il basso il bordo superiore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sz="800" i="1" dirty="0"/>
              <a:t>Tocca la notifica «Ricarica questo dispositivo via USB» o simile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sz="800" i="1" dirty="0"/>
              <a:t>Scegli «Trasferimento di file» o simile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it-IT" sz="800" i="1" dirty="0"/>
              <a:t>Consenti l’accesso ai dati del telefono</a:t>
            </a:r>
            <a:endParaRPr lang="it-IT" sz="800" dirty="0"/>
          </a:p>
          <a:p>
            <a:r>
              <a:rPr lang="it-IT" sz="1200" dirty="0"/>
              <a:t>Quando pronto clicca su OK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0FEEC12F-191B-AAFF-38E6-68068154DB52}"/>
              </a:ext>
            </a:extLst>
          </p:cNvPr>
          <p:cNvSpPr/>
          <p:nvPr/>
        </p:nvSpPr>
        <p:spPr>
          <a:xfrm>
            <a:off x="10152888" y="5916606"/>
            <a:ext cx="518160" cy="2346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4A00990-6200-7AF3-007E-7153CD137B8C}"/>
              </a:ext>
            </a:extLst>
          </p:cNvPr>
          <p:cNvSpPr txBox="1">
            <a:spLocks/>
          </p:cNvSpPr>
          <p:nvPr/>
        </p:nvSpPr>
        <p:spPr>
          <a:xfrm>
            <a:off x="7763362" y="6318975"/>
            <a:ext cx="322176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2 - </a:t>
            </a:r>
            <a:r>
              <a:rPr lang="it-IT" sz="800" b="1" i="1" dirty="0"/>
              <a:t>Note</a:t>
            </a:r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bottone ok sarà accessibile come per template 1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546507A-E7D0-F291-E25D-F17F010F8810}"/>
              </a:ext>
            </a:extLst>
          </p:cNvPr>
          <p:cNvSpPr txBox="1"/>
          <p:nvPr/>
        </p:nvSpPr>
        <p:spPr>
          <a:xfrm>
            <a:off x="9562637" y="2784229"/>
            <a:ext cx="2353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CORREGGERE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F44FC54-41AF-323A-78C0-5F87AAF8E187}"/>
              </a:ext>
            </a:extLst>
          </p:cNvPr>
          <p:cNvSpPr/>
          <p:nvPr/>
        </p:nvSpPr>
        <p:spPr>
          <a:xfrm>
            <a:off x="7763362" y="4126895"/>
            <a:ext cx="3272333" cy="17897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ccia in giù 10">
            <a:extLst>
              <a:ext uri="{FF2B5EF4-FFF2-40B4-BE49-F238E27FC236}">
                <a16:creationId xmlns:a16="http://schemas.microsoft.com/office/drawing/2014/main" id="{8B78BA9A-D946-1DBD-D322-F4D392AE2BBC}"/>
              </a:ext>
            </a:extLst>
          </p:cNvPr>
          <p:cNvSpPr/>
          <p:nvPr/>
        </p:nvSpPr>
        <p:spPr>
          <a:xfrm>
            <a:off x="10508346" y="3245894"/>
            <a:ext cx="614438" cy="74963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E47D656-96DA-6C1B-B282-4050758DF20E}"/>
              </a:ext>
            </a:extLst>
          </p:cNvPr>
          <p:cNvSpPr txBox="1"/>
          <p:nvPr/>
        </p:nvSpPr>
        <p:spPr>
          <a:xfrm>
            <a:off x="1332109" y="1331933"/>
            <a:ext cx="3049040" cy="11695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it-IT" sz="1000" b="1" dirty="0">
                <a:solidFill>
                  <a:schemeClr val="bg1"/>
                </a:solidFill>
                <a:highlight>
                  <a:srgbClr val="FF0000"/>
                </a:highlight>
              </a:rPr>
              <a:t>1 – Verifica della disponibilità di quanto necessario</a:t>
            </a:r>
          </a:p>
          <a:p>
            <a:r>
              <a:rPr lang="it-IT" sz="1000" b="1" dirty="0">
                <a:solidFill>
                  <a:schemeClr val="bg1"/>
                </a:solidFill>
                <a:highlight>
                  <a:srgbClr val="FF0000"/>
                </a:highlight>
              </a:rPr>
              <a:t>2 – Verifica preliminare, preparazione dei file e collegamento</a:t>
            </a:r>
          </a:p>
          <a:p>
            <a:r>
              <a:rPr lang="it-IT" sz="1000" b="1" dirty="0">
                <a:solidFill>
                  <a:schemeClr val="bg1"/>
                </a:solidFill>
                <a:highlight>
                  <a:srgbClr val="FF0000"/>
                </a:highlight>
              </a:rPr>
              <a:t>3 – Copia manuale dei file di configurazione</a:t>
            </a:r>
          </a:p>
          <a:p>
            <a:r>
              <a:rPr lang="it-IT" sz="1000" b="1" dirty="0">
                <a:solidFill>
                  <a:schemeClr val="bg1"/>
                </a:solidFill>
                <a:highlight>
                  <a:srgbClr val="FF0000"/>
                </a:highlight>
              </a:rPr>
              <a:t>4 – Generazione password e altri dati necessari per configurare la cartella condivida</a:t>
            </a:r>
          </a:p>
          <a:p>
            <a:r>
              <a:rPr lang="it-IT" sz="1000" b="1" dirty="0">
                <a:solidFill>
                  <a:schemeClr val="bg1"/>
                </a:solidFill>
                <a:highlight>
                  <a:srgbClr val="FF0000"/>
                </a:highlight>
              </a:rPr>
              <a:t>5 – Accedere alla cartella del Catalogo mediante CIFS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2642570-BB24-A8F9-BFB4-400FD2C13BEF}"/>
              </a:ext>
            </a:extLst>
          </p:cNvPr>
          <p:cNvSpPr txBox="1"/>
          <p:nvPr/>
        </p:nvSpPr>
        <p:spPr>
          <a:xfrm>
            <a:off x="1332109" y="552718"/>
            <a:ext cx="3049040" cy="7848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it-IT" sz="900" b="1" dirty="0">
                <a:solidFill>
                  <a:schemeClr val="bg1"/>
                </a:solidFill>
                <a:highlight>
                  <a:srgbClr val="FF0000"/>
                </a:highlight>
              </a:rPr>
              <a:t>Da questa pagina si attiva la procedura guidata per la creazione o modifica della cartella condivisa dove tenere il Catalogo.  Per motivi di sicurezza ci sono delle operazioni che puoi fare solo tu. Se il Catalogo risiede su un PC o Notebook Windows, la procedura prevede: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5150750-8709-286B-32D8-4642798F3F10}"/>
              </a:ext>
            </a:extLst>
          </p:cNvPr>
          <p:cNvSpPr/>
          <p:nvPr/>
        </p:nvSpPr>
        <p:spPr>
          <a:xfrm>
            <a:off x="957943" y="179010"/>
            <a:ext cx="3413413" cy="2322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888B64A8-7816-D4B3-1EFE-DD67D880CF9A}"/>
              </a:ext>
            </a:extLst>
          </p:cNvPr>
          <p:cNvSpPr/>
          <p:nvPr/>
        </p:nvSpPr>
        <p:spPr>
          <a:xfrm>
            <a:off x="80878" y="3174302"/>
            <a:ext cx="4217314" cy="5171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9811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D9DB077-A5EA-DD81-ACDD-20FF4F9BD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2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9BA5A4E-4148-58C2-0027-85DDD28051CF}"/>
              </a:ext>
            </a:extLst>
          </p:cNvPr>
          <p:cNvSpPr txBox="1">
            <a:spLocks/>
          </p:cNvSpPr>
          <p:nvPr/>
        </p:nvSpPr>
        <p:spPr>
          <a:xfrm>
            <a:off x="4360077" y="715263"/>
            <a:ext cx="3221760" cy="40626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3 – Copia manuale dei file di configurazione</a:t>
            </a:r>
          </a:p>
          <a:p>
            <a:endParaRPr lang="it-IT" sz="1200" dirty="0"/>
          </a:p>
          <a:p>
            <a:r>
              <a:rPr lang="it-IT" sz="1200" dirty="0"/>
              <a:t>Dopo aver collegato il telefono al PC/Notebook esegui le seguenti operazioni:</a:t>
            </a:r>
          </a:p>
          <a:p>
            <a:pPr lvl="0"/>
            <a:endParaRPr lang="it-IT" sz="800" dirty="0"/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b="1" dirty="0"/>
              <a:t>Accedi dal PC alla cartella Download del telefono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Vai sul PC ed apri “Esplora file”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Nel menu a sinistra clicca “Questo PC”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Sotto "Dispositivi e unità" compare il nome del tuo telefono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Fai doppio clic sul nome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Apri “Memoria interna condivisa” (o </a:t>
            </a:r>
            <a:r>
              <a:rPr lang="it-IT" sz="800" dirty="0" err="1"/>
              <a:t>piú</a:t>
            </a:r>
            <a:r>
              <a:rPr lang="it-IT" sz="800" dirty="0"/>
              <a:t> semplicemente "Telefono" / "Memoria interna").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endParaRPr lang="it-IT" sz="800" dirty="0"/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b="1" dirty="0"/>
              <a:t>Copia i due file che trovi in Download del telefono ed incollali sulla cartella Desktop del PC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Cerca nella cartella Download del telefono i file denominati:</a:t>
            </a:r>
          </a:p>
          <a:p>
            <a:pPr lvl="1"/>
            <a:r>
              <a:rPr lang="it-IT" sz="800" b="1" i="1" dirty="0" err="1"/>
              <a:t>AVVIA_Configurazione_Catalogo</a:t>
            </a:r>
            <a:endParaRPr lang="it-IT" sz="800" b="1" i="1" dirty="0"/>
          </a:p>
          <a:p>
            <a:pPr lvl="1"/>
            <a:r>
              <a:rPr lang="it-IT" sz="800" b="1" i="1" dirty="0"/>
              <a:t>_</a:t>
            </a:r>
            <a:r>
              <a:rPr lang="it-IT" sz="800" b="1" i="1" dirty="0" err="1"/>
              <a:t>non_aprire_supporto_setup</a:t>
            </a:r>
            <a:endParaRPr lang="it-IT" sz="800" b="1" i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Seleziona entrambi i file e copiali con Ctrl +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Torna sul PC, vai sul Desktop e incollali con Ctrl + V.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endParaRPr lang="it-IT" sz="800" dirty="0"/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it-IT" sz="800" b="1" dirty="0"/>
              <a:t>Verifica la presenza dei due file dopo il salvataggio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it-IT" sz="800" dirty="0"/>
              <a:t>Dopo il salvataggio dei file sul PC/Notebook verifica che siano presenti sulla cartella Desktop.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endParaRPr lang="it-IT" sz="800" dirty="0"/>
          </a:p>
          <a:p>
            <a:endParaRPr lang="it-IT" sz="800" dirty="0"/>
          </a:p>
          <a:p>
            <a:endParaRPr lang="it-IT" sz="800" dirty="0"/>
          </a:p>
          <a:p>
            <a:r>
              <a:rPr lang="it-IT" sz="800" dirty="0"/>
              <a:t>Quando pronto clicca su OK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5A0762FB-CE1B-7CFE-EF61-A93432B3A0FF}"/>
              </a:ext>
            </a:extLst>
          </p:cNvPr>
          <p:cNvSpPr/>
          <p:nvPr/>
        </p:nvSpPr>
        <p:spPr>
          <a:xfrm>
            <a:off x="6843558" y="4348753"/>
            <a:ext cx="518160" cy="2346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25ABB2E-E18E-9D95-BB84-3BE32E5A2455}"/>
              </a:ext>
            </a:extLst>
          </p:cNvPr>
          <p:cNvSpPr txBox="1">
            <a:spLocks/>
          </p:cNvSpPr>
          <p:nvPr/>
        </p:nvSpPr>
        <p:spPr>
          <a:xfrm>
            <a:off x="4360077" y="4846846"/>
            <a:ext cx="322176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3 - </a:t>
            </a:r>
            <a:r>
              <a:rPr lang="it-IT" sz="800" b="1" i="1" dirty="0"/>
              <a:t>Note</a:t>
            </a:r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bottone ok sarà accessibile come per template 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32BAEB5-33AA-DE49-41BD-822284DAC299}"/>
              </a:ext>
            </a:extLst>
          </p:cNvPr>
          <p:cNvSpPr/>
          <p:nvPr/>
        </p:nvSpPr>
        <p:spPr>
          <a:xfrm>
            <a:off x="337413" y="3073401"/>
            <a:ext cx="1775021" cy="30200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883DAF8-6619-6BD8-8F3E-7FE054386C59}"/>
              </a:ext>
            </a:extLst>
          </p:cNvPr>
          <p:cNvSpPr txBox="1">
            <a:spLocks/>
          </p:cNvSpPr>
          <p:nvPr/>
        </p:nvSpPr>
        <p:spPr>
          <a:xfrm>
            <a:off x="8137774" y="3058417"/>
            <a:ext cx="3270180" cy="16619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I nomi dei file sono ancora troppo lunghi:</a:t>
            </a:r>
          </a:p>
          <a:p>
            <a:r>
              <a:rPr lang="it-IT" sz="1200" b="1" dirty="0"/>
              <a:t>MODIFICARLI COME SEGUE:</a:t>
            </a:r>
            <a:endParaRPr lang="it-IT" sz="1200" dirty="0"/>
          </a:p>
          <a:p>
            <a:endParaRPr lang="it-IT" sz="1200" b="1" i="1" dirty="0"/>
          </a:p>
          <a:p>
            <a:r>
              <a:rPr lang="it-IT" sz="900" b="1" i="1" dirty="0" err="1"/>
              <a:t>AVVIA_Configurazione_Catalogo</a:t>
            </a:r>
            <a:r>
              <a:rPr lang="it-IT" sz="900" b="1" i="1" dirty="0"/>
              <a:t> &gt; CONFIGURA (MAIUSCOLO)</a:t>
            </a:r>
          </a:p>
          <a:p>
            <a:r>
              <a:rPr lang="it-IT" sz="900" b="1" i="1" dirty="0"/>
              <a:t>_</a:t>
            </a:r>
            <a:r>
              <a:rPr lang="it-IT" sz="900" b="1" i="1" dirty="0" err="1"/>
              <a:t>non_aprire_supporto_setup</a:t>
            </a:r>
            <a:r>
              <a:rPr lang="it-IT" sz="900" b="1" i="1" dirty="0"/>
              <a:t> &gt; </a:t>
            </a:r>
            <a:r>
              <a:rPr lang="it-IT" sz="900" b="1" i="1" dirty="0" err="1"/>
              <a:t>sup</a:t>
            </a:r>
            <a:r>
              <a:rPr lang="it-IT" sz="900" b="1" i="1" dirty="0"/>
              <a:t> (minuscolo)</a:t>
            </a:r>
          </a:p>
          <a:p>
            <a:endParaRPr lang="it-IT" sz="1200" dirty="0"/>
          </a:p>
          <a:p>
            <a:r>
              <a:rPr lang="it-IT" sz="1200" dirty="0"/>
              <a:t>Nelle slide successive si fa riferimento al vecchio nome</a:t>
            </a:r>
          </a:p>
          <a:p>
            <a:endParaRPr lang="it-IT" sz="1200" b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C6D83F4-5902-7568-DC81-614220C3EB5A}"/>
              </a:ext>
            </a:extLst>
          </p:cNvPr>
          <p:cNvSpPr txBox="1">
            <a:spLocks/>
          </p:cNvSpPr>
          <p:nvPr/>
        </p:nvSpPr>
        <p:spPr>
          <a:xfrm>
            <a:off x="4300140" y="0"/>
            <a:ext cx="767526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REVISIONE PASSO 3 </a:t>
            </a:r>
            <a:r>
              <a:rPr lang="it-IT" sz="1200" dirty="0"/>
              <a:t>(procedura per PC/Notebook)</a:t>
            </a:r>
            <a:endParaRPr lang="it-IT" sz="1200" b="1" dirty="0"/>
          </a:p>
          <a:p>
            <a:endParaRPr lang="it-IT" sz="1200" dirty="0"/>
          </a:p>
          <a:p>
            <a:r>
              <a:rPr lang="it-IT" sz="1200" dirty="0"/>
              <a:t>La pagina è rivista secondo il template 3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E0D9D43-11B0-2F53-B3C3-B5464006BF81}"/>
              </a:ext>
            </a:extLst>
          </p:cNvPr>
          <p:cNvSpPr/>
          <p:nvPr/>
        </p:nvSpPr>
        <p:spPr>
          <a:xfrm>
            <a:off x="2108200" y="3158067"/>
            <a:ext cx="1833033" cy="203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F46FA58-D3A9-102D-2BE9-A6FA3F1A8139}"/>
              </a:ext>
            </a:extLst>
          </p:cNvPr>
          <p:cNvSpPr txBox="1"/>
          <p:nvPr/>
        </p:nvSpPr>
        <p:spPr>
          <a:xfrm>
            <a:off x="8578862" y="46140"/>
            <a:ext cx="3600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MODIFICHE NON RECEPITE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C711A55-6A2A-CDA8-2974-87AF827FDBF6}"/>
              </a:ext>
            </a:extLst>
          </p:cNvPr>
          <p:cNvSpPr txBox="1"/>
          <p:nvPr/>
        </p:nvSpPr>
        <p:spPr>
          <a:xfrm>
            <a:off x="7582340" y="1678997"/>
            <a:ext cx="4540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Attenersi al template ed eliminare</a:t>
            </a:r>
          </a:p>
          <a:p>
            <a:r>
              <a:rPr lang="it-IT" sz="2400" b="1" dirty="0">
                <a:solidFill>
                  <a:srgbClr val="FF0000"/>
                </a:solidFill>
              </a:rPr>
              <a:t>i testi non previsti </a:t>
            </a:r>
          </a:p>
        </p:txBody>
      </p:sp>
    </p:spTree>
    <p:extLst>
      <p:ext uri="{BB962C8B-B14F-4D97-AF65-F5344CB8AC3E}">
        <p14:creationId xmlns:p14="http://schemas.microsoft.com/office/powerpoint/2010/main" val="376041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29CF0A5-1206-D9E9-B634-D8EB47295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9" y="0"/>
            <a:ext cx="4291584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EE50947-2406-382F-1B36-3CDC62F4A27B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810F0F6-DE6E-2415-002A-3EB7FFB53891}"/>
              </a:ext>
            </a:extLst>
          </p:cNvPr>
          <p:cNvSpPr txBox="1"/>
          <p:nvPr/>
        </p:nvSpPr>
        <p:spPr>
          <a:xfrm>
            <a:off x="10004142" y="41302"/>
            <a:ext cx="2172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SVILUPPARE</a:t>
            </a:r>
          </a:p>
        </p:txBody>
      </p:sp>
    </p:spTree>
    <p:extLst>
      <p:ext uri="{BB962C8B-B14F-4D97-AF65-F5344CB8AC3E}">
        <p14:creationId xmlns:p14="http://schemas.microsoft.com/office/powerpoint/2010/main" val="3653100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8B4F443F-3EA5-60C4-C790-C1C8A511B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137203D-C1CB-0667-A537-8FE5941D3E98}"/>
              </a:ext>
            </a:extLst>
          </p:cNvPr>
          <p:cNvSpPr txBox="1">
            <a:spLocks/>
          </p:cNvSpPr>
          <p:nvPr/>
        </p:nvSpPr>
        <p:spPr>
          <a:xfrm>
            <a:off x="4440396" y="55895"/>
            <a:ext cx="4055299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REVISIONE PASSO 4 </a:t>
            </a:r>
            <a:r>
              <a:rPr lang="it-IT" sz="1200" dirty="0"/>
              <a:t>(procedura per PC/Notebook)</a:t>
            </a:r>
            <a:endParaRPr lang="it-IT" sz="1200" b="1" dirty="0"/>
          </a:p>
          <a:p>
            <a:endParaRPr lang="it-IT" sz="1200" dirty="0"/>
          </a:p>
          <a:p>
            <a:r>
              <a:rPr lang="it-IT" sz="1200" dirty="0"/>
              <a:t>La pagina è rivista secondo il template 4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660F715-CCDF-E423-AB55-65C4F1683418}"/>
              </a:ext>
            </a:extLst>
          </p:cNvPr>
          <p:cNvSpPr txBox="1">
            <a:spLocks/>
          </p:cNvSpPr>
          <p:nvPr/>
        </p:nvSpPr>
        <p:spPr>
          <a:xfrm>
            <a:off x="4485120" y="802381"/>
            <a:ext cx="3221760" cy="40934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4 – Generazione password e altri dati necessari per configurare la cartella condivida</a:t>
            </a:r>
          </a:p>
          <a:p>
            <a:endParaRPr lang="it-IT" sz="1200" dirty="0"/>
          </a:p>
          <a:p>
            <a:r>
              <a:rPr lang="it-IT" sz="1200" dirty="0"/>
              <a:t>E’ tutto pronto per lanciare la routine che ti consentirà di creare la cartella dedicata al Catalogo personale. Ecco le istruzioni:</a:t>
            </a:r>
          </a:p>
          <a:p>
            <a:endParaRPr lang="it-IT" sz="12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Vai sul Desktop del PC/Notebook e seleziona il file </a:t>
            </a:r>
            <a:r>
              <a:rPr lang="it-IT" sz="1200" b="1" i="1" dirty="0" err="1"/>
              <a:t>AVVIA_Configurazione_Catalogo</a:t>
            </a:r>
            <a:endParaRPr lang="it-IT" sz="1200" b="1" i="1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Con il tasto destro del mouse  seleziona e clicca su Apri: la routine di configurazione viene così eseguita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Al termine (ci vorrà qualche minuto) la routine mostrerà il messaggio di «Tutto pronto»  per passare alla fase successiva.                          Non interrompere la routine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it-IT" sz="1200" dirty="0"/>
              <a:t>Prendi nota dei dati di riepilogo forniti dalla routine da utilizzare in seguito.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it-IT" sz="1200" dirty="0"/>
          </a:p>
          <a:p>
            <a:r>
              <a:rPr lang="it-IT" sz="1200" dirty="0"/>
              <a:t>Quando pronto clicca su OK</a:t>
            </a:r>
          </a:p>
          <a:p>
            <a:endParaRPr lang="it-IT" sz="1200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F3CBD7BF-2318-2200-B8E4-0D7CF84F40BD}"/>
              </a:ext>
            </a:extLst>
          </p:cNvPr>
          <p:cNvSpPr/>
          <p:nvPr/>
        </p:nvSpPr>
        <p:spPr>
          <a:xfrm>
            <a:off x="6842570" y="4424490"/>
            <a:ext cx="478601" cy="233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D3B61A7-8E1D-9199-F5FD-69C0C86D81B0}"/>
              </a:ext>
            </a:extLst>
          </p:cNvPr>
          <p:cNvSpPr txBox="1">
            <a:spLocks/>
          </p:cNvSpPr>
          <p:nvPr/>
        </p:nvSpPr>
        <p:spPr>
          <a:xfrm>
            <a:off x="4485120" y="4965543"/>
            <a:ext cx="3221760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4 - </a:t>
            </a:r>
            <a:r>
              <a:rPr lang="it-IT" sz="800" b="1" i="1" dirty="0"/>
              <a:t>Note</a:t>
            </a:r>
          </a:p>
          <a:p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Verificare quali dati di riepilogo (VEDI SLIIDE SUCCESSIVA) potranno servire all’utente (eliminare quelli che non utilizzerà mai)</a:t>
            </a:r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Inserire durante l’esecuzione dello script (dopo i primi 6 passi della procedura) un messaggio di attesa (ESEMPIO «STO CONFIGURANDO LA CARTELLA. NON INTERROMPERE LA ROUTINE FINO A QUANDO NON SARA’ VISUALIZZATO IL MESSAGGIO DI TUTTO PRONTO!»</a:t>
            </a:r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Prevedere nei punti dove è necessario prendere nota dei dati una funzione di stampa (screenshot, stampante o PDF)</a:t>
            </a:r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bottone ok sarà accessibile solo se tutti i riquadri della checklist sono stati selezionati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2E0218B-AAC8-2513-30FC-E9B0BBFB1DB6}"/>
              </a:ext>
            </a:extLst>
          </p:cNvPr>
          <p:cNvSpPr txBox="1"/>
          <p:nvPr/>
        </p:nvSpPr>
        <p:spPr>
          <a:xfrm>
            <a:off x="8578862" y="46140"/>
            <a:ext cx="3600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MODIFICHE NON RECEPITE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DFF821C-7F58-AB6A-61CB-DB3B26DC1CE5}"/>
              </a:ext>
            </a:extLst>
          </p:cNvPr>
          <p:cNvSpPr txBox="1"/>
          <p:nvPr/>
        </p:nvSpPr>
        <p:spPr>
          <a:xfrm>
            <a:off x="7779656" y="1678997"/>
            <a:ext cx="43434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Attenersi al template ed eliminare i testi non previsti </a:t>
            </a:r>
          </a:p>
        </p:txBody>
      </p:sp>
    </p:spTree>
    <p:extLst>
      <p:ext uri="{BB962C8B-B14F-4D97-AF65-F5344CB8AC3E}">
        <p14:creationId xmlns:p14="http://schemas.microsoft.com/office/powerpoint/2010/main" val="1727850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354B2D27-ABD0-CA71-C1A4-7C3FA51B6119}"/>
              </a:ext>
            </a:extLst>
          </p:cNvPr>
          <p:cNvSpPr txBox="1"/>
          <p:nvPr/>
        </p:nvSpPr>
        <p:spPr>
          <a:xfrm>
            <a:off x="2506133" y="2305615"/>
            <a:ext cx="472016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dirty="0"/>
              <a:t>PC:            DESKTOP-E5C1L4E</a:t>
            </a:r>
          </a:p>
          <a:p>
            <a:r>
              <a:rPr lang="it-IT" sz="1000" dirty="0"/>
              <a:t>Cartella:      C:\MediaManager\Catalogo</a:t>
            </a:r>
          </a:p>
          <a:p>
            <a:r>
              <a:rPr lang="it-IT" sz="1000" dirty="0"/>
              <a:t>Condivisione:  \\DESKTOP-E5C1L4E\MediaManagerCatalog</a:t>
            </a:r>
          </a:p>
          <a:p>
            <a:r>
              <a:rPr lang="it-IT" sz="1000" dirty="0"/>
              <a:t>IP:            192.168.68.60</a:t>
            </a:r>
          </a:p>
          <a:p>
            <a:r>
              <a:rPr lang="it-IT" sz="1000" dirty="0"/>
              <a:t>Utente SMB:    DESKTOP-E5C1L4E\</a:t>
            </a:r>
            <a:r>
              <a:rPr lang="it-IT" sz="1000" dirty="0" err="1"/>
              <a:t>MediaManager</a:t>
            </a:r>
            <a:endParaRPr lang="it-IT" sz="1000" dirty="0"/>
          </a:p>
          <a:p>
            <a:r>
              <a:rPr lang="it-IT" sz="1000" dirty="0"/>
              <a:t>Password:      </a:t>
            </a:r>
            <a:r>
              <a:rPr lang="it-IT" sz="1000" dirty="0" err="1"/>
              <a:t>GkQSnTprEABYMi</a:t>
            </a:r>
            <a:endParaRPr lang="it-IT" sz="1000" dirty="0"/>
          </a:p>
          <a:p>
            <a:endParaRPr lang="it-IT" sz="1000" dirty="0"/>
          </a:p>
          <a:p>
            <a:r>
              <a:rPr lang="it-IT" sz="1000" dirty="0"/>
              <a:t>Password PROVVISORIA: cambiala in Windows e aggiorna Archivio sul tablet.</a:t>
            </a:r>
          </a:p>
          <a:p>
            <a:r>
              <a:rPr lang="it-IT" sz="1000" dirty="0"/>
              <a:t>Esito (fuori dalla condivisione): C:\MediaManager\MediaManager_setup_result.json</a:t>
            </a:r>
          </a:p>
          <a:p>
            <a:r>
              <a:rPr lang="it-IT" sz="1000" dirty="0"/>
              <a:t>Log: C:\MediaManager\MediaManager_setup.log</a:t>
            </a:r>
          </a:p>
          <a:p>
            <a:r>
              <a:rPr lang="it-IT" sz="1000" dirty="0"/>
              <a:t>AVVISO: se il PC va in sospensione, la cartella sparisce dalla rete.</a:t>
            </a:r>
          </a:p>
          <a:p>
            <a:r>
              <a:rPr lang="it-IT" sz="1000" dirty="0"/>
              <a:t>Torna all'app </a:t>
            </a:r>
            <a:r>
              <a:rPr lang="it-IT" sz="1000" dirty="0" err="1"/>
              <a:t>MediaManager</a:t>
            </a:r>
            <a:r>
              <a:rPr lang="it-IT" sz="1000" dirty="0"/>
              <a:t> e continua il </a:t>
            </a:r>
            <a:r>
              <a:rPr lang="it-IT" sz="1000" dirty="0" err="1"/>
              <a:t>Wizard</a:t>
            </a:r>
            <a:r>
              <a:rPr lang="it-IT" sz="1000" dirty="0"/>
              <a:t>.</a:t>
            </a:r>
          </a:p>
          <a:p>
            <a:endParaRPr lang="it-IT" sz="1000" dirty="0"/>
          </a:p>
          <a:p>
            <a:r>
              <a:rPr lang="it-IT" sz="1000" dirty="0"/>
              <a:t>[16:10:24] File di supporto eliminato dal PC (conteneva la password).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01AC7FE-791F-DA2A-350C-80A5F81161A6}"/>
              </a:ext>
            </a:extLst>
          </p:cNvPr>
          <p:cNvSpPr txBox="1"/>
          <p:nvPr/>
        </p:nvSpPr>
        <p:spPr>
          <a:xfrm>
            <a:off x="2506133" y="1866809"/>
            <a:ext cx="3335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RIEPILOGO DI FINE SCRIPT SU PC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FD432D-EDEE-D097-A8BB-08E90CD30A10}"/>
              </a:ext>
            </a:extLst>
          </p:cNvPr>
          <p:cNvSpPr txBox="1">
            <a:spLocks/>
          </p:cNvSpPr>
          <p:nvPr/>
        </p:nvSpPr>
        <p:spPr>
          <a:xfrm>
            <a:off x="7226300" y="2829816"/>
            <a:ext cx="3270180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La password generata è inutilmente complessa da trascrivere: </a:t>
            </a:r>
            <a:r>
              <a:rPr lang="it-IT" sz="1200" dirty="0"/>
              <a:t>d’altra parte, se è provvisoria e se l’utente può cambiarla, in questa fase si può usare</a:t>
            </a:r>
            <a:r>
              <a:rPr lang="it-IT" sz="1200" b="1" dirty="0"/>
              <a:t> «</a:t>
            </a:r>
            <a:r>
              <a:rPr lang="it-IT" sz="1200" b="1" dirty="0" err="1"/>
              <a:t>mediamanager</a:t>
            </a:r>
            <a:r>
              <a:rPr lang="it-IT" sz="1200" b="1" dirty="0"/>
              <a:t>» </a:t>
            </a:r>
            <a:r>
              <a:rPr lang="it-IT" sz="1200" dirty="0"/>
              <a:t>(senza controllo su minuscolo / maiuscolo)</a:t>
            </a:r>
          </a:p>
          <a:p>
            <a:r>
              <a:rPr lang="it-IT" sz="1200" dirty="0"/>
              <a:t>Prevedere funzione stampa (screenshot, stampante o PDF)</a:t>
            </a:r>
          </a:p>
          <a:p>
            <a:endParaRPr lang="it-IT" sz="12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FE8FA1-2447-2F11-11E0-9AD3FA76216A}"/>
              </a:ext>
            </a:extLst>
          </p:cNvPr>
          <p:cNvSpPr txBox="1"/>
          <p:nvPr/>
        </p:nvSpPr>
        <p:spPr>
          <a:xfrm>
            <a:off x="8578862" y="46140"/>
            <a:ext cx="3266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PROBLEMA CONGELATO</a:t>
            </a:r>
          </a:p>
        </p:txBody>
      </p:sp>
    </p:spTree>
    <p:extLst>
      <p:ext uri="{BB962C8B-B14F-4D97-AF65-F5344CB8AC3E}">
        <p14:creationId xmlns:p14="http://schemas.microsoft.com/office/powerpoint/2010/main" val="2926327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B001EDF-E68A-523F-705C-58C840E81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9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FD343A0-ABA4-40E6-D646-A3D665C47BDF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BB157D3-D0D3-7D7F-BC0B-A0A4F4F6043F}"/>
              </a:ext>
            </a:extLst>
          </p:cNvPr>
          <p:cNvSpPr txBox="1"/>
          <p:nvPr/>
        </p:nvSpPr>
        <p:spPr>
          <a:xfrm>
            <a:off x="10004142" y="41302"/>
            <a:ext cx="2172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SVILUPPARE</a:t>
            </a:r>
          </a:p>
        </p:txBody>
      </p:sp>
    </p:spTree>
    <p:extLst>
      <p:ext uri="{BB962C8B-B14F-4D97-AF65-F5344CB8AC3E}">
        <p14:creationId xmlns:p14="http://schemas.microsoft.com/office/powerpoint/2010/main" val="186810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0219DA0-C5F4-826A-9638-E52D3C899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8994F5-2573-B155-7372-D79A782F151F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B191408-6754-1B16-CA56-EF3151DD9B87}"/>
              </a:ext>
            </a:extLst>
          </p:cNvPr>
          <p:cNvSpPr txBox="1"/>
          <p:nvPr/>
        </p:nvSpPr>
        <p:spPr>
          <a:xfrm>
            <a:off x="10004142" y="41302"/>
            <a:ext cx="2172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SVILUPPARE</a:t>
            </a:r>
          </a:p>
        </p:txBody>
      </p:sp>
    </p:spTree>
    <p:extLst>
      <p:ext uri="{BB962C8B-B14F-4D97-AF65-F5344CB8AC3E}">
        <p14:creationId xmlns:p14="http://schemas.microsoft.com/office/powerpoint/2010/main" val="49401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B06B11CA-736B-55EA-3EA5-0B7AF387B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9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A7C97AB-34F3-8900-669D-FA0D35C41B87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01F1B4F-D2AE-3587-97D6-0889E5FA3A5D}"/>
              </a:ext>
            </a:extLst>
          </p:cNvPr>
          <p:cNvSpPr txBox="1"/>
          <p:nvPr/>
        </p:nvSpPr>
        <p:spPr>
          <a:xfrm>
            <a:off x="10004142" y="41302"/>
            <a:ext cx="2172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SVILUPPARE</a:t>
            </a:r>
          </a:p>
        </p:txBody>
      </p:sp>
    </p:spTree>
    <p:extLst>
      <p:ext uri="{BB962C8B-B14F-4D97-AF65-F5344CB8AC3E}">
        <p14:creationId xmlns:p14="http://schemas.microsoft.com/office/powerpoint/2010/main" val="496974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3F42DDD9-8041-6F78-2FAF-3C1AD6E6F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8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ECFC12F-832D-DFBE-8499-779FD0629D20}"/>
              </a:ext>
            </a:extLst>
          </p:cNvPr>
          <p:cNvSpPr txBox="1">
            <a:spLocks/>
          </p:cNvSpPr>
          <p:nvPr/>
        </p:nvSpPr>
        <p:spPr>
          <a:xfrm>
            <a:off x="4592796" y="1508574"/>
            <a:ext cx="3221760" cy="38164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Setup Catalogo personale</a:t>
            </a:r>
          </a:p>
          <a:p>
            <a:r>
              <a:rPr lang="it-IT" sz="1000" b="1" i="1" dirty="0"/>
              <a:t>5 – Accedere alla cartella del Catalogo mediante CIFS</a:t>
            </a:r>
          </a:p>
          <a:p>
            <a:endParaRPr lang="it-IT" sz="1200" dirty="0"/>
          </a:p>
          <a:p>
            <a:r>
              <a:rPr lang="it-IT" sz="1200" dirty="0"/>
              <a:t>L’ultimo passo della procedura prevede la configurazione dell’app denominata  CIFS </a:t>
            </a:r>
            <a:r>
              <a:rPr lang="it-IT" sz="1200" dirty="0" err="1"/>
              <a:t>Documents</a:t>
            </a:r>
            <a:r>
              <a:rPr lang="it-IT" sz="1200" dirty="0"/>
              <a:t> Provider (scaricabile gratuitamente su Google Play).</a:t>
            </a:r>
          </a:p>
          <a:p>
            <a:r>
              <a:rPr lang="it-IT" sz="1200" b="1" dirty="0">
                <a:solidFill>
                  <a:srgbClr val="FF0000"/>
                </a:solidFill>
              </a:rPr>
              <a:t>Ecco i dati da inserire: con il bottone «Copia» puoi incollarli uno alla volta sul form di CIFS:</a:t>
            </a:r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pPr lvl="0"/>
            <a:endParaRPr lang="it-IT" sz="800" dirty="0"/>
          </a:p>
          <a:p>
            <a:endParaRPr lang="it-IT" sz="800" dirty="0"/>
          </a:p>
          <a:p>
            <a:endParaRPr lang="it-IT" sz="800" dirty="0"/>
          </a:p>
          <a:p>
            <a:r>
              <a:rPr lang="it-IT" sz="800" dirty="0"/>
              <a:t>Quando pronto clicca su OK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80E4227E-950C-A15E-20C9-450373A1542C}"/>
              </a:ext>
            </a:extLst>
          </p:cNvPr>
          <p:cNvSpPr/>
          <p:nvPr/>
        </p:nvSpPr>
        <p:spPr>
          <a:xfrm>
            <a:off x="7147256" y="5006949"/>
            <a:ext cx="518160" cy="2346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OK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70178B9-BA54-7F7E-6EFA-93800B8F6966}"/>
              </a:ext>
            </a:extLst>
          </p:cNvPr>
          <p:cNvSpPr txBox="1">
            <a:spLocks/>
          </p:cNvSpPr>
          <p:nvPr/>
        </p:nvSpPr>
        <p:spPr>
          <a:xfrm>
            <a:off x="4722934" y="5924219"/>
            <a:ext cx="3221760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800" b="1" dirty="0"/>
              <a:t>Template 5 - </a:t>
            </a:r>
            <a:r>
              <a:rPr lang="it-IT" sz="800" b="1" i="1" dirty="0"/>
              <a:t>Note</a:t>
            </a:r>
            <a:endParaRPr lang="it-IT" sz="800" dirty="0"/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format da visualizzare deve essere del tutto simile a quello utilizzato da CIFS</a:t>
            </a:r>
          </a:p>
          <a:p>
            <a:pPr marL="228600" indent="-228600">
              <a:buFont typeface="+mj-lt"/>
              <a:buAutoNum type="arabicPeriod"/>
            </a:pPr>
            <a:r>
              <a:rPr lang="it-IT" sz="800" dirty="0"/>
              <a:t>Il bottone ok sarà accessibile come per template 1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48E84BE-95E9-AC43-722E-42E7073703F9}"/>
              </a:ext>
            </a:extLst>
          </p:cNvPr>
          <p:cNvSpPr txBox="1">
            <a:spLocks/>
          </p:cNvSpPr>
          <p:nvPr/>
        </p:nvSpPr>
        <p:spPr>
          <a:xfrm>
            <a:off x="4592796" y="757004"/>
            <a:ext cx="382065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REVISIONE PASSO 5</a:t>
            </a:r>
          </a:p>
          <a:p>
            <a:endParaRPr lang="it-IT" sz="1200" dirty="0"/>
          </a:p>
          <a:p>
            <a:r>
              <a:rPr lang="it-IT" sz="1200" dirty="0"/>
              <a:t>La pagina è rivista secondo il template 5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96CEECB-AE8C-EE50-5D67-1D2AB5C6F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8" b="13043"/>
          <a:stretch>
            <a:fillRect/>
          </a:stretch>
        </p:blipFill>
        <p:spPr>
          <a:xfrm>
            <a:off x="5541459" y="3214878"/>
            <a:ext cx="1052865" cy="184866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69899C2-8C76-00E7-DC19-78D42028F778}"/>
              </a:ext>
            </a:extLst>
          </p:cNvPr>
          <p:cNvSpPr txBox="1">
            <a:spLocks/>
          </p:cNvSpPr>
          <p:nvPr/>
        </p:nvSpPr>
        <p:spPr>
          <a:xfrm>
            <a:off x="8817431" y="539078"/>
            <a:ext cx="3270180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/>
              <a:t>Integrazione  CIFS / </a:t>
            </a:r>
            <a:r>
              <a:rPr lang="it-IT" sz="1200" b="1" dirty="0" err="1"/>
              <a:t>MediaManager</a:t>
            </a:r>
            <a:endParaRPr lang="it-IT" sz="1200" dirty="0"/>
          </a:p>
          <a:p>
            <a:r>
              <a:rPr lang="it-IT" sz="1200" dirty="0"/>
              <a:t>Approfondire il livello di integrazione (compilazione automatica dei dati richiesti da CIFS sulla base di quelli in possesso dell’app).</a:t>
            </a:r>
          </a:p>
          <a:p>
            <a:r>
              <a:rPr lang="it-IT" sz="1200" dirty="0"/>
              <a:t>L’auspicio di è integrarla completamente ad esclusione dell’inserimento della password.</a:t>
            </a:r>
          </a:p>
          <a:p>
            <a:r>
              <a:rPr lang="it-IT" sz="1200" b="1" dirty="0"/>
              <a:t>Se l’integrazione non è ritenuta affidabile, prevedere soltanto l’input manuale.</a:t>
            </a:r>
          </a:p>
          <a:p>
            <a:r>
              <a:rPr lang="it-IT" sz="1200" dirty="0"/>
              <a:t>Prevedere funzione stampa (screenshot, stampante o PDF)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B5F6F13-6B4C-2541-DF05-A855FBC086C7}"/>
              </a:ext>
            </a:extLst>
          </p:cNvPr>
          <p:cNvSpPr txBox="1"/>
          <p:nvPr/>
        </p:nvSpPr>
        <p:spPr>
          <a:xfrm>
            <a:off x="9767080" y="41302"/>
            <a:ext cx="2374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AGGIORNARE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B4978DE-D7B2-9369-869B-AB5C793235E1}"/>
              </a:ext>
            </a:extLst>
          </p:cNvPr>
          <p:cNvSpPr txBox="1">
            <a:spLocks/>
          </p:cNvSpPr>
          <p:nvPr/>
        </p:nvSpPr>
        <p:spPr>
          <a:xfrm>
            <a:off x="8817431" y="3124548"/>
            <a:ext cx="3270180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b="1" dirty="0">
                <a:solidFill>
                  <a:srgbClr val="FF0000"/>
                </a:solidFill>
              </a:rPr>
              <a:t>Ribadisco i requisiti già forniti:</a:t>
            </a:r>
          </a:p>
          <a:p>
            <a:pPr marL="228600" indent="-228600">
              <a:buAutoNum type="arabicPeriod"/>
            </a:pPr>
            <a:r>
              <a:rPr lang="it-IT" sz="1200" b="1" dirty="0">
                <a:solidFill>
                  <a:srgbClr val="FF0000"/>
                </a:solidFill>
              </a:rPr>
              <a:t>I dati devono essere rappresentati nello stesso ordine con cui li richiede CIFS (meglio se riportati sul loro form)</a:t>
            </a:r>
          </a:p>
          <a:p>
            <a:pPr marL="228600" indent="-228600">
              <a:buAutoNum type="arabicPeriod"/>
            </a:pPr>
            <a:r>
              <a:rPr lang="it-IT" sz="1200" b="1" dirty="0">
                <a:solidFill>
                  <a:srgbClr val="FF0000"/>
                </a:solidFill>
              </a:rPr>
              <a:t>Occorre dare istruzioni anche per i campi che restano vuoti oppure confermano i valori di CIFS: l’obiettivo è quindi di riportare tutti i campi previsti</a:t>
            </a:r>
          </a:p>
          <a:p>
            <a:pPr marL="228600" indent="-228600">
              <a:buAutoNum type="arabicPeriod"/>
            </a:pPr>
            <a:r>
              <a:rPr lang="it-IT" sz="1200" b="1" dirty="0">
                <a:solidFill>
                  <a:srgbClr val="FF0000"/>
                </a:solidFill>
              </a:rPr>
              <a:t>Non Usare nomi di campi diversi dagli originali e non usare valori ambigui</a:t>
            </a:r>
          </a:p>
          <a:p>
            <a:pPr marL="228600" indent="-228600">
              <a:buAutoNum type="arabicPeriod"/>
            </a:pPr>
            <a:r>
              <a:rPr lang="it-IT" sz="1200" b="1" dirty="0">
                <a:solidFill>
                  <a:srgbClr val="FF0000"/>
                </a:solidFill>
              </a:rPr>
              <a:t>IP del PC potrebbe essere copiato dallo script e riportato insieme agli altri dati</a:t>
            </a:r>
          </a:p>
          <a:p>
            <a:pPr marL="228600" indent="-228600">
              <a:buAutoNum type="arabicPeriod"/>
            </a:pPr>
            <a:r>
              <a:rPr lang="it-IT" sz="1200" b="1" dirty="0">
                <a:solidFill>
                  <a:srgbClr val="FF0000"/>
                </a:solidFill>
              </a:rPr>
              <a:t>Occorre spiegare meglio come avviene il copia ed incolla dei singoli valori</a:t>
            </a:r>
          </a:p>
        </p:txBody>
      </p:sp>
    </p:spTree>
    <p:extLst>
      <p:ext uri="{BB962C8B-B14F-4D97-AF65-F5344CB8AC3E}">
        <p14:creationId xmlns:p14="http://schemas.microsoft.com/office/powerpoint/2010/main" val="4185404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FEBDC49C-4468-E655-B515-230F32B7D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0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26FA02D-4A57-4FFC-FEB5-CF6E3360F528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5C5A3D5-D2FD-0E3A-785E-811EA2305125}"/>
              </a:ext>
            </a:extLst>
          </p:cNvPr>
          <p:cNvSpPr txBox="1"/>
          <p:nvPr/>
        </p:nvSpPr>
        <p:spPr>
          <a:xfrm>
            <a:off x="10004142" y="41302"/>
            <a:ext cx="2172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SVILUPPARE</a:t>
            </a:r>
          </a:p>
        </p:txBody>
      </p:sp>
    </p:spTree>
    <p:extLst>
      <p:ext uri="{BB962C8B-B14F-4D97-AF65-F5344CB8AC3E}">
        <p14:creationId xmlns:p14="http://schemas.microsoft.com/office/powerpoint/2010/main" val="4255988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magine 30">
            <a:extLst>
              <a:ext uri="{FF2B5EF4-FFF2-40B4-BE49-F238E27FC236}">
                <a16:creationId xmlns:a16="http://schemas.microsoft.com/office/drawing/2014/main" id="{C017BAB0-85BA-2408-A255-B8CBA0745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65231" cy="6858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B6BB059-899A-C60A-8F38-6B745B9C0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8611" y="-33867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339CE02-9DD4-A2CD-3516-E5D93779243B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3C81FCF-001A-C4DF-9429-A928CE7A11B6}"/>
              </a:ext>
            </a:extLst>
          </p:cNvPr>
          <p:cNvSpPr txBox="1"/>
          <p:nvPr/>
        </p:nvSpPr>
        <p:spPr>
          <a:xfrm>
            <a:off x="10004142" y="41302"/>
            <a:ext cx="2172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SVILUPPARE</a:t>
            </a:r>
          </a:p>
        </p:txBody>
      </p:sp>
    </p:spTree>
    <p:extLst>
      <p:ext uri="{BB962C8B-B14F-4D97-AF65-F5344CB8AC3E}">
        <p14:creationId xmlns:p14="http://schemas.microsoft.com/office/powerpoint/2010/main" val="3482566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5361952-D5B6-E365-5599-34BE2C351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CDC9523-A50C-C6E5-CC9B-06634602BC8D}"/>
              </a:ext>
            </a:extLst>
          </p:cNvPr>
          <p:cNvSpPr txBox="1"/>
          <p:nvPr/>
        </p:nvSpPr>
        <p:spPr>
          <a:xfrm>
            <a:off x="4435854" y="37929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GESTIRE GLI ERRORI CON UN HELP CONTESTUALE USANDO UN APPROCCIO «WHAT/IF»</a:t>
            </a:r>
          </a:p>
          <a:p>
            <a:r>
              <a:rPr lang="it-IT" dirty="0"/>
              <a:t>CONSULTARE NOTE CHATGPT E CLAUDE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0BF3967-8FA0-0563-6530-AB9B9EA0E6AA}"/>
              </a:ext>
            </a:extLst>
          </p:cNvPr>
          <p:cNvSpPr txBox="1"/>
          <p:nvPr/>
        </p:nvSpPr>
        <p:spPr>
          <a:xfrm>
            <a:off x="10004142" y="41302"/>
            <a:ext cx="2172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DA SVILUPPARE</a:t>
            </a:r>
          </a:p>
        </p:txBody>
      </p:sp>
    </p:spTree>
    <p:extLst>
      <p:ext uri="{BB962C8B-B14F-4D97-AF65-F5344CB8AC3E}">
        <p14:creationId xmlns:p14="http://schemas.microsoft.com/office/powerpoint/2010/main" val="523433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7F97D33D-F28D-AAFD-A7C3-3B89C9F25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" y="0"/>
            <a:ext cx="4285488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19336E8-C726-F249-6B09-769045F8DADD}"/>
              </a:ext>
            </a:extLst>
          </p:cNvPr>
          <p:cNvSpPr txBox="1"/>
          <p:nvPr/>
        </p:nvSpPr>
        <p:spPr>
          <a:xfrm>
            <a:off x="5199913" y="3198167"/>
            <a:ext cx="6133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FF0000"/>
                </a:solidFill>
              </a:rPr>
              <a:t>VALUTARE SE QUESTA PAGINA SIA NECESSARIA</a:t>
            </a:r>
          </a:p>
        </p:txBody>
      </p:sp>
    </p:spTree>
    <p:extLst>
      <p:ext uri="{BB962C8B-B14F-4D97-AF65-F5344CB8AC3E}">
        <p14:creationId xmlns:p14="http://schemas.microsoft.com/office/powerpoint/2010/main" val="13507914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2176</Words>
  <Application>Microsoft Office PowerPoint</Application>
  <PresentationFormat>Widescreen</PresentationFormat>
  <Paragraphs>255</Paragraphs>
  <Slides>17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Stefanizzi</dc:creator>
  <cp:lastModifiedBy>Renato Stefanizzi</cp:lastModifiedBy>
  <cp:revision>31</cp:revision>
  <dcterms:created xsi:type="dcterms:W3CDTF">2026-10-18T18:41:56Z</dcterms:created>
  <dcterms:modified xsi:type="dcterms:W3CDTF">2026-10-20T16:46:51Z</dcterms:modified>
</cp:coreProperties>
</file>